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4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0000" y="760000"/>
            <a:ext cx="10000000" cy="3731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</a:pPr>
            <a:r>
              <a:rPr sz="1800" b="1" dirty="0">
                <a:solidFill>
                  <a:srgbClr val="2EE6B6"/>
                </a:solidFill>
                <a:latin typeface="Segoe UI"/>
              </a:rPr>
              <a:t>TECH CHALLENGE  ·  FIAP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000" y="1220000"/>
            <a:ext cx="10500000" cy="1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600" b="1" dirty="0">
                <a:solidFill>
                  <a:srgbClr val="F2F5FF"/>
                </a:solidFill>
                <a:latin typeface="Segoe UI"/>
              </a:rPr>
              <a:t>Sistema de </a:t>
            </a:r>
            <a:r>
              <a:rPr sz="4600" b="1" dirty="0" err="1">
                <a:solidFill>
                  <a:srgbClr val="F2F5FF"/>
                </a:solidFill>
                <a:latin typeface="Segoe UI"/>
              </a:rPr>
              <a:t>Recomendação</a:t>
            </a:r>
            <a:endParaRPr sz="4600" b="1" dirty="0">
              <a:solidFill>
                <a:srgbClr val="F2F5FF"/>
              </a:solidFill>
              <a:latin typeface="Segoe UI"/>
            </a:endParaRPr>
          </a:p>
          <a:p>
            <a:pPr>
              <a:lnSpc>
                <a:spcPct val="100000"/>
              </a:lnSpc>
            </a:pPr>
            <a:r>
              <a:rPr sz="4600" b="1" dirty="0">
                <a:solidFill>
                  <a:srgbClr val="F2F5FF"/>
                </a:solidFill>
                <a:latin typeface="Segoe UI"/>
              </a:rPr>
              <a:t>de </a:t>
            </a:r>
            <a:r>
              <a:rPr sz="4600" b="1" dirty="0" err="1">
                <a:solidFill>
                  <a:srgbClr val="F2F5FF"/>
                </a:solidFill>
                <a:latin typeface="Segoe UI"/>
              </a:rPr>
              <a:t>Filmes</a:t>
            </a:r>
            <a:endParaRPr sz="4600" b="1" dirty="0">
              <a:solidFill>
                <a:srgbClr val="F2F5FF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0000" y="2820000"/>
            <a:ext cx="10000000" cy="3731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</a:pPr>
            <a:r>
              <a:rPr sz="1800" b="0" dirty="0">
                <a:solidFill>
                  <a:srgbClr val="A8B3D1"/>
                </a:solidFill>
                <a:latin typeface="Segoe UI"/>
              </a:rPr>
              <a:t>Do dado </a:t>
            </a:r>
            <a:r>
              <a:rPr sz="1800" b="0" dirty="0" err="1">
                <a:solidFill>
                  <a:srgbClr val="A8B3D1"/>
                </a:solidFill>
                <a:latin typeface="Segoe UI"/>
              </a:rPr>
              <a:t>bruto</a:t>
            </a:r>
            <a:r>
              <a:rPr sz="1800" b="0" dirty="0">
                <a:solidFill>
                  <a:srgbClr val="A8B3D1"/>
                </a:solidFill>
                <a:latin typeface="Segoe UI"/>
              </a:rPr>
              <a:t> do MovieLens a </a:t>
            </a:r>
            <a:r>
              <a:rPr sz="1800" b="0" dirty="0" err="1">
                <a:solidFill>
                  <a:srgbClr val="A8B3D1"/>
                </a:solidFill>
                <a:latin typeface="Segoe UI"/>
              </a:rPr>
              <a:t>uma</a:t>
            </a:r>
            <a:r>
              <a:rPr sz="1800" b="0" dirty="0">
                <a:solidFill>
                  <a:srgbClr val="A8B3D1"/>
                </a:solidFill>
                <a:latin typeface="Segoe UI"/>
              </a:rPr>
              <a:t> API REST de </a:t>
            </a:r>
            <a:r>
              <a:rPr sz="1800" b="0" dirty="0" err="1">
                <a:solidFill>
                  <a:srgbClr val="A8B3D1"/>
                </a:solidFill>
                <a:latin typeface="Segoe UI"/>
              </a:rPr>
              <a:t>produção</a:t>
            </a:r>
            <a:endParaRPr sz="1800" b="0" dirty="0">
              <a:solidFill>
                <a:srgbClr val="A8B3D1"/>
              </a:solidFill>
              <a:latin typeface="Segoe U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60000" y="3450000"/>
            <a:ext cx="10600000" cy="884256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>
                <a:solidFill>
                  <a:srgbClr val="4F9CFF"/>
                </a:solidFill>
                <a:latin typeface="Segoe UI"/>
              </a:rPr>
              <a:t>Stack principal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Python ·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PyTorch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·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FastAPI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·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MLflow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· DVC ·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uv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· Docker ·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pytest</a:t>
            </a:r>
            <a:endParaRPr sz="1250" dirty="0">
              <a:solidFill>
                <a:srgbClr val="A8B3D1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0000" y="4491440"/>
            <a:ext cx="10000000" cy="2951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 err="1">
                <a:solidFill>
                  <a:srgbClr val="4F9CFF"/>
                </a:solidFill>
                <a:latin typeface="Segoe UI"/>
              </a:rPr>
              <a:t>Apresentação</a:t>
            </a:r>
            <a:r>
              <a:rPr sz="1300" b="1" dirty="0">
                <a:solidFill>
                  <a:srgbClr val="4F9CFF"/>
                </a:solidFill>
                <a:latin typeface="Segoe UI"/>
              </a:rPr>
              <a:t> no </a:t>
            </a:r>
            <a:r>
              <a:rPr sz="1300" b="1" dirty="0" err="1">
                <a:solidFill>
                  <a:srgbClr val="4F9CFF"/>
                </a:solidFill>
                <a:latin typeface="Segoe UI"/>
              </a:rPr>
              <a:t>modelo</a:t>
            </a:r>
            <a:r>
              <a:rPr sz="1300" b="1" dirty="0">
                <a:solidFill>
                  <a:srgbClr val="4F9CFF"/>
                </a:solidFill>
                <a:latin typeface="Segoe UI"/>
              </a:rPr>
              <a:t> STAR — </a:t>
            </a:r>
            <a:r>
              <a:rPr sz="1300" b="1" dirty="0" err="1">
                <a:solidFill>
                  <a:srgbClr val="4F9CFF"/>
                </a:solidFill>
                <a:latin typeface="Segoe UI"/>
              </a:rPr>
              <a:t>Situação</a:t>
            </a:r>
            <a:r>
              <a:rPr sz="1300" b="1" dirty="0">
                <a:solidFill>
                  <a:srgbClr val="4F9CFF"/>
                </a:solidFill>
                <a:latin typeface="Segoe UI"/>
              </a:rPr>
              <a:t> · </a:t>
            </a:r>
            <a:r>
              <a:rPr sz="1300" b="1" dirty="0" err="1">
                <a:solidFill>
                  <a:srgbClr val="4F9CFF"/>
                </a:solidFill>
                <a:latin typeface="Segoe UI"/>
              </a:rPr>
              <a:t>Tarefa</a:t>
            </a:r>
            <a:r>
              <a:rPr sz="1300" b="1" dirty="0">
                <a:solidFill>
                  <a:srgbClr val="4F9CFF"/>
                </a:solidFill>
                <a:latin typeface="Segoe UI"/>
              </a:rPr>
              <a:t> · </a:t>
            </a:r>
            <a:r>
              <a:rPr sz="1300" b="1" dirty="0" err="1">
                <a:solidFill>
                  <a:srgbClr val="4F9CFF"/>
                </a:solidFill>
                <a:latin typeface="Segoe UI"/>
              </a:rPr>
              <a:t>Ação</a:t>
            </a:r>
            <a:r>
              <a:rPr sz="1300" b="1" dirty="0">
                <a:solidFill>
                  <a:srgbClr val="4F9CFF"/>
                </a:solidFill>
                <a:latin typeface="Segoe UI"/>
              </a:rPr>
              <a:t> · </a:t>
            </a:r>
            <a:r>
              <a:rPr sz="1300" b="1" dirty="0" err="1">
                <a:solidFill>
                  <a:srgbClr val="4F9CFF"/>
                </a:solidFill>
                <a:latin typeface="Segoe UI"/>
              </a:rPr>
              <a:t>Resultado</a:t>
            </a:r>
            <a:endParaRPr sz="1300" b="1" dirty="0">
              <a:solidFill>
                <a:srgbClr val="4F9CFF"/>
              </a:solidFill>
              <a:latin typeface="Segoe U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60000" y="4980000"/>
            <a:ext cx="10600000" cy="1685976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>
                <a:solidFill>
                  <a:srgbClr val="2EE6B6"/>
                </a:solidFill>
                <a:latin typeface="Segoe UI"/>
              </a:rPr>
              <a:t>Equipe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Alexis Ferreira Duarte – RM371356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George Ricardo dos Santos – RM374213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Leandro de Souza Pignataro – RM373704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Nicolas de Araújo Gomes – RM370990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600000" y="360000"/>
            <a:ext cx="2200000" cy="760000"/>
          </a:xfrm>
          <a:prstGeom prst="roundRect">
            <a:avLst/>
          </a:prstGeom>
          <a:solidFill>
            <a:srgbClr val="24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2EE6B6"/>
                </a:solidFill>
                <a:latin typeface="Segoe UI"/>
              </a:rPr>
              <a:t>S  </a:t>
            </a:r>
            <a:r>
              <a:rPr sz="1500" b="1">
                <a:solidFill>
                  <a:srgbClr val="F2F5FF"/>
                </a:solidFill>
                <a:latin typeface="Segoe UI"/>
              </a:rPr>
              <a:t>SITUAÇÃO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0000" y="650000"/>
            <a:ext cx="8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2F5FF"/>
                </a:solidFill>
                <a:latin typeface="Segoe UI"/>
              </a:rPr>
              <a:t>O problema a resolver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480000"/>
            <a:ext cx="900000" cy="70000"/>
          </a:xfrm>
          <a:prstGeom prst="rect">
            <a:avLst/>
          </a:prstGeom>
          <a:solidFill>
            <a:srgbClr val="4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108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800">
                <a:solidFill>
                  <a:srgbClr val="F2F5FF"/>
                </a:solidFill>
                <a:latin typeface="Segoe UI"/>
              </a:rPr>
              <a:t>▸  Catálogos de streaming são enormes — o usuário se perde no volume de opções.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800">
                <a:solidFill>
                  <a:srgbClr val="A8B3D1"/>
                </a:solidFill>
                <a:latin typeface="Segoe UI"/>
              </a:rPr>
              <a:t>▸  Sem boa recomendação, o engajamento cai e o conteúdo relevante fica invisível.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800">
                <a:solidFill>
                  <a:srgbClr val="F2F5FF"/>
                </a:solidFill>
                <a:latin typeface="Segoe UI"/>
              </a:rPr>
              <a:t>▸  Dataset MovieLens: mais de 100 mil avaliações de filmes feitas por usuários reais.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800">
                <a:solidFill>
                  <a:srgbClr val="A8B3D1"/>
                </a:solidFill>
                <a:latin typeface="Segoe UI"/>
              </a:rPr>
              <a:t>▸  Desafio central: prever quais filmes cada usuário realmente vai gostar — rápido e confiável.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0000" y="4750000"/>
            <a:ext cx="10800000" cy="90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 err="1">
                <a:solidFill>
                  <a:srgbClr val="4F9CFF"/>
                </a:solidFill>
                <a:latin typeface="Segoe UI"/>
              </a:rPr>
              <a:t>Contexto</a:t>
            </a:r>
            <a:endParaRPr sz="1700" b="1" dirty="0">
              <a:solidFill>
                <a:srgbClr val="4F9CFF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Projeto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acadêmico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do Tech Challenge FIAP —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recomendação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de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filmes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ponta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a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ponta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com Machine Learning.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600000" y="360000"/>
            <a:ext cx="2200000" cy="760000"/>
          </a:xfrm>
          <a:prstGeom prst="roundRect">
            <a:avLst/>
          </a:prstGeom>
          <a:solidFill>
            <a:srgbClr val="24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2EE6B6"/>
                </a:solidFill>
                <a:latin typeface="Segoe UI"/>
              </a:rPr>
              <a:t>T  </a:t>
            </a:r>
            <a:r>
              <a:rPr sz="1500" b="1">
                <a:solidFill>
                  <a:srgbClr val="F2F5FF"/>
                </a:solidFill>
                <a:latin typeface="Segoe UI"/>
              </a:rPr>
              <a:t>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0000" y="650000"/>
            <a:ext cx="8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2F5FF"/>
                </a:solidFill>
                <a:latin typeface="Segoe UI"/>
              </a:rPr>
              <a:t>O que precisávamos construir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480000"/>
            <a:ext cx="900000" cy="70000"/>
          </a:xfrm>
          <a:prstGeom prst="rect">
            <a:avLst/>
          </a:prstGeom>
          <a:solidFill>
            <a:srgbClr val="4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0000" y="1950000"/>
            <a:ext cx="3450000" cy="190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>
                <a:solidFill>
                  <a:srgbClr val="4F9CFF"/>
                </a:solidFill>
                <a:latin typeface="Segoe UI"/>
              </a:rPr>
              <a:t>1 · </a:t>
            </a:r>
            <a:r>
              <a:rPr sz="1700" b="1" dirty="0" err="1">
                <a:solidFill>
                  <a:srgbClr val="4F9CFF"/>
                </a:solidFill>
                <a:latin typeface="Segoe UI"/>
              </a:rPr>
              <a:t>Modelar</a:t>
            </a:r>
            <a:endParaRPr sz="1700" b="1" dirty="0">
              <a:solidFill>
                <a:srgbClr val="4F9CFF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Classificação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binária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: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prever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se o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usuário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daria</a:t>
            </a:r>
            <a:endParaRPr sz="1250" dirty="0">
              <a:solidFill>
                <a:srgbClr val="A8B3D1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nota ≥ 4 (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gostou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/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não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gostou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000" y="1950000"/>
            <a:ext cx="3450000" cy="190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>
                <a:solidFill>
                  <a:srgbClr val="4F9CFF"/>
                </a:solidFill>
                <a:latin typeface="Segoe UI"/>
              </a:rPr>
              <a:t>2 · Pipeline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Fluxo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reprodutível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de dados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treino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,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versionado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e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rastreável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de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ponta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a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ponta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0000" y="1950000"/>
            <a:ext cx="3450000" cy="190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>
                <a:solidFill>
                  <a:srgbClr val="4F9CFF"/>
                </a:solidFill>
                <a:latin typeface="Segoe UI"/>
              </a:rPr>
              <a:t>3 · </a:t>
            </a:r>
            <a:r>
              <a:rPr sz="1700" b="1" dirty="0" err="1">
                <a:solidFill>
                  <a:srgbClr val="4F9CFF"/>
                </a:solidFill>
                <a:latin typeface="Segoe UI"/>
              </a:rPr>
              <a:t>Servir</a:t>
            </a:r>
            <a:endParaRPr sz="1700" b="1" dirty="0">
              <a:solidFill>
                <a:srgbClr val="4F9CFF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API REST que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entrega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as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recomendações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de forma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rápida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resiliente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4150000"/>
            <a:ext cx="10790000" cy="130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 err="1">
                <a:solidFill>
                  <a:srgbClr val="2EE6B6"/>
                </a:solidFill>
                <a:latin typeface="Segoe UI"/>
              </a:rPr>
              <a:t>Entrega</a:t>
            </a:r>
            <a:r>
              <a:rPr sz="1700" b="1" dirty="0">
                <a:solidFill>
                  <a:srgbClr val="2EE6B6"/>
                </a:solidFill>
                <a:latin typeface="Segoe UI"/>
              </a:rPr>
              <a:t> principal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Dado um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user_id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→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retornar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o TOP-K de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filmes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recomendados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,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com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título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,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gênero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e score de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probabilidade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de o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usuário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gostar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600000" y="360000"/>
            <a:ext cx="2200000" cy="760000"/>
          </a:xfrm>
          <a:prstGeom prst="roundRect">
            <a:avLst/>
          </a:prstGeom>
          <a:solidFill>
            <a:srgbClr val="24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2EE6B6"/>
                </a:solidFill>
                <a:latin typeface="Segoe UI"/>
              </a:rPr>
              <a:t>A  </a:t>
            </a:r>
            <a:r>
              <a:rPr sz="1500" b="1">
                <a:solidFill>
                  <a:srgbClr val="F2F5FF"/>
                </a:solidFill>
                <a:latin typeface="Segoe UI"/>
              </a:rPr>
              <a:t>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0000" y="650000"/>
            <a:ext cx="8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2F5FF"/>
                </a:solidFill>
                <a:latin typeface="Segoe UI"/>
              </a:rPr>
              <a:t>Arquitetura &amp; Pipeline (DVC)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480000"/>
            <a:ext cx="900000" cy="70000"/>
          </a:xfrm>
          <a:prstGeom prst="rect">
            <a:avLst/>
          </a:prstGeom>
          <a:solidFill>
            <a:srgbClr val="4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0000" y="2350000"/>
            <a:ext cx="2046400" cy="1050000"/>
          </a:xfrm>
          <a:prstGeom prst="roundRect">
            <a:avLst/>
          </a:prstGeom>
          <a:solidFill>
            <a:srgbClr val="162140"/>
          </a:solidFill>
          <a:ln w="15875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2F5FF"/>
                </a:solidFill>
                <a:latin typeface="Segoe UI"/>
              </a:rPr>
              <a:t>Preprocess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11400" y="2805000"/>
            <a:ext cx="180000" cy="140000"/>
          </a:xfrm>
          <a:prstGeom prst="rightArrow">
            <a:avLst/>
          </a:prstGeom>
          <a:solidFill>
            <a:srgbClr val="2EE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876400" y="2350000"/>
            <a:ext cx="2046400" cy="1050000"/>
          </a:xfrm>
          <a:prstGeom prst="roundRect">
            <a:avLst/>
          </a:prstGeom>
          <a:solidFill>
            <a:srgbClr val="162140"/>
          </a:solidFill>
          <a:ln w="15875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2F5FF"/>
                </a:solidFill>
                <a:latin typeface="Segoe UI"/>
              </a:rPr>
              <a:t>Feature Eng.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07800" y="2805000"/>
            <a:ext cx="180000" cy="140000"/>
          </a:xfrm>
          <a:prstGeom prst="rightArrow">
            <a:avLst/>
          </a:prstGeom>
          <a:solidFill>
            <a:srgbClr val="2EE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72800" y="2350000"/>
            <a:ext cx="2046400" cy="1050000"/>
          </a:xfrm>
          <a:prstGeom prst="roundRect">
            <a:avLst/>
          </a:prstGeom>
          <a:solidFill>
            <a:srgbClr val="162140"/>
          </a:solidFill>
          <a:ln w="15875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2F5FF"/>
                </a:solidFill>
                <a:latin typeface="Segoe UI"/>
              </a:rPr>
              <a:t>Split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04200" y="2805000"/>
            <a:ext cx="180000" cy="140000"/>
          </a:xfrm>
          <a:prstGeom prst="rightArrow">
            <a:avLst/>
          </a:prstGeom>
          <a:solidFill>
            <a:srgbClr val="2EE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269200" y="2350000"/>
            <a:ext cx="2046400" cy="1050000"/>
          </a:xfrm>
          <a:prstGeom prst="roundRect">
            <a:avLst/>
          </a:prstGeom>
          <a:solidFill>
            <a:srgbClr val="162140"/>
          </a:solidFill>
          <a:ln w="15875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2F5FF"/>
                </a:solidFill>
                <a:latin typeface="Segoe UI"/>
              </a:rPr>
              <a:t>Train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00600" y="2805000"/>
            <a:ext cx="180000" cy="140000"/>
          </a:xfrm>
          <a:prstGeom prst="rightArrow">
            <a:avLst/>
          </a:prstGeom>
          <a:solidFill>
            <a:srgbClr val="2EE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465600" y="2350000"/>
            <a:ext cx="2046400" cy="1050000"/>
          </a:xfrm>
          <a:prstGeom prst="roundRect">
            <a:avLst/>
          </a:prstGeom>
          <a:solidFill>
            <a:srgbClr val="162140"/>
          </a:solidFill>
          <a:ln w="15875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2F5FF"/>
                </a:solidFill>
                <a:latin typeface="Segoe UI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000" y="3900000"/>
            <a:ext cx="108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600">
                <a:solidFill>
                  <a:srgbClr val="F2F5FF"/>
                </a:solidFill>
                <a:latin typeface="Segoe UI"/>
              </a:rPr>
              <a:t>▸  Preprocess: binariza as notas (≥ 4 → gostou) — padrão Strategy.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600">
                <a:solidFill>
                  <a:srgbClr val="F2F5FF"/>
                </a:solidFill>
                <a:latin typeface="Segoe UI"/>
              </a:rPr>
              <a:t>▸  Feature Engineering: LabelEncoders para usuários e filmes.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600">
                <a:solidFill>
                  <a:srgbClr val="F2F5FF"/>
                </a:solidFill>
                <a:latin typeface="Segoe UI"/>
              </a:rPr>
              <a:t>▸  Split estratificado 70/15/15 — treino / validação / teste, sem vazamento.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600">
                <a:solidFill>
                  <a:srgbClr val="F2F5FF"/>
                </a:solidFill>
                <a:latin typeface="Segoe UI"/>
              </a:rPr>
              <a:t>▸  DVC orquestra e versiona todos os estágios, garantindo reprodutibilidade.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600000" y="360000"/>
            <a:ext cx="2200000" cy="760000"/>
          </a:xfrm>
          <a:prstGeom prst="roundRect">
            <a:avLst/>
          </a:prstGeom>
          <a:solidFill>
            <a:srgbClr val="24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2EE6B6"/>
                </a:solidFill>
                <a:latin typeface="Segoe UI"/>
              </a:rPr>
              <a:t>A  </a:t>
            </a:r>
            <a:r>
              <a:rPr sz="1500" b="1">
                <a:solidFill>
                  <a:srgbClr val="F2F5FF"/>
                </a:solidFill>
                <a:latin typeface="Segoe UI"/>
              </a:rPr>
              <a:t>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0000" y="650000"/>
            <a:ext cx="8994352" cy="1198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dirty="0">
                <a:solidFill>
                  <a:srgbClr val="F2F5FF"/>
                </a:solidFill>
                <a:latin typeface="Segoe UI"/>
              </a:rPr>
              <a:t>O </a:t>
            </a:r>
            <a:r>
              <a:rPr sz="3400" b="1" dirty="0" err="1">
                <a:solidFill>
                  <a:srgbClr val="F2F5FF"/>
                </a:solidFill>
                <a:latin typeface="Segoe UI"/>
              </a:rPr>
              <a:t>Modelo</a:t>
            </a:r>
            <a:r>
              <a:rPr sz="3400" b="1" dirty="0">
                <a:solidFill>
                  <a:srgbClr val="F2F5FF"/>
                </a:solidFill>
                <a:latin typeface="Segoe UI"/>
              </a:rPr>
              <a:t> — MLP com Embeddings (</a:t>
            </a:r>
            <a:r>
              <a:rPr sz="3400" b="1" dirty="0" err="1">
                <a:solidFill>
                  <a:srgbClr val="F2F5FF"/>
                </a:solidFill>
                <a:latin typeface="Segoe UI"/>
              </a:rPr>
              <a:t>PyTorch</a:t>
            </a:r>
            <a:r>
              <a:rPr sz="3400" b="1" dirty="0">
                <a:solidFill>
                  <a:srgbClr val="F2F5FF"/>
                </a:solidFill>
                <a:latin typeface="Segoe UI"/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0000" y="1895000"/>
            <a:ext cx="900000" cy="70000"/>
          </a:xfrm>
          <a:prstGeom prst="rect">
            <a:avLst/>
          </a:prstGeom>
          <a:solidFill>
            <a:srgbClr val="4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0000" y="2200000"/>
            <a:ext cx="2046400" cy="1050000"/>
          </a:xfrm>
          <a:prstGeom prst="roundRect">
            <a:avLst/>
          </a:prstGeom>
          <a:solidFill>
            <a:srgbClr val="162140"/>
          </a:solidFill>
          <a:ln w="15875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2F5FF"/>
                </a:solidFill>
                <a:latin typeface="Segoe UI"/>
              </a:rPr>
              <a:t>Embedding
Usuário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11400" y="2655000"/>
            <a:ext cx="180000" cy="140000"/>
          </a:xfrm>
          <a:prstGeom prst="rightArrow">
            <a:avLst/>
          </a:prstGeom>
          <a:solidFill>
            <a:srgbClr val="2EE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876400" y="2200000"/>
            <a:ext cx="2046400" cy="1050000"/>
          </a:xfrm>
          <a:prstGeom prst="roundRect">
            <a:avLst/>
          </a:prstGeom>
          <a:solidFill>
            <a:srgbClr val="162140"/>
          </a:solidFill>
          <a:ln w="15875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2F5FF"/>
                </a:solidFill>
                <a:latin typeface="Segoe UI"/>
              </a:rPr>
              <a:t>Embedding
Filme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07800" y="2655000"/>
            <a:ext cx="180000" cy="140000"/>
          </a:xfrm>
          <a:prstGeom prst="rightArrow">
            <a:avLst/>
          </a:prstGeom>
          <a:solidFill>
            <a:srgbClr val="2EE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72800" y="2200000"/>
            <a:ext cx="2046400" cy="1050000"/>
          </a:xfrm>
          <a:prstGeom prst="roundRect">
            <a:avLst/>
          </a:prstGeom>
          <a:solidFill>
            <a:srgbClr val="162140"/>
          </a:solidFill>
          <a:ln w="15875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2F5FF"/>
                </a:solidFill>
                <a:latin typeface="Segoe UI"/>
              </a:rPr>
              <a:t>Concat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04200" y="2655000"/>
            <a:ext cx="180000" cy="140000"/>
          </a:xfrm>
          <a:prstGeom prst="rightArrow">
            <a:avLst/>
          </a:prstGeom>
          <a:solidFill>
            <a:srgbClr val="2EE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269200" y="2200000"/>
            <a:ext cx="2046400" cy="1050000"/>
          </a:xfrm>
          <a:prstGeom prst="roundRect">
            <a:avLst/>
          </a:prstGeom>
          <a:solidFill>
            <a:srgbClr val="162140"/>
          </a:solidFill>
          <a:ln w="15875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2F5FF"/>
                </a:solidFill>
                <a:latin typeface="Segoe UI"/>
              </a:rPr>
              <a:t>Dense + ReLU
+ Dropout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00600" y="2655000"/>
            <a:ext cx="180000" cy="140000"/>
          </a:xfrm>
          <a:prstGeom prst="rightArrow">
            <a:avLst/>
          </a:prstGeom>
          <a:solidFill>
            <a:srgbClr val="2EE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465600" y="2200000"/>
            <a:ext cx="2046400" cy="1050000"/>
          </a:xfrm>
          <a:prstGeom prst="roundRect">
            <a:avLst/>
          </a:prstGeom>
          <a:solidFill>
            <a:srgbClr val="162140"/>
          </a:solidFill>
          <a:ln w="15875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2F5FF"/>
                </a:solidFill>
                <a:latin typeface="Segoe UI"/>
              </a:rPr>
              <a:t>Sigmoid
→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000" y="3650000"/>
            <a:ext cx="5250000" cy="195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 err="1">
                <a:solidFill>
                  <a:srgbClr val="4F9CFF"/>
                </a:solidFill>
                <a:latin typeface="Segoe UI"/>
              </a:rPr>
              <a:t>Treinamento</a:t>
            </a:r>
            <a:endParaRPr sz="1700" b="1" dirty="0">
              <a:solidFill>
                <a:srgbClr val="4F9CFF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Loss: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BCEWithLogitsLoss</a:t>
            </a:r>
            <a:endParaRPr sz="1250" dirty="0">
              <a:solidFill>
                <a:srgbClr val="A8B3D1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Otimizador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: Adam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Early stopping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na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perda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de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validação</a:t>
            </a:r>
            <a:endParaRPr sz="1250" dirty="0">
              <a:solidFill>
                <a:srgbClr val="A8B3D1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Salva sempre o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melhor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modelo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(.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pth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0000" y="3650000"/>
            <a:ext cx="5250000" cy="195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>
                <a:solidFill>
                  <a:srgbClr val="2EE6B6"/>
                </a:solidFill>
                <a:latin typeface="Segoe UI"/>
              </a:rPr>
              <a:t>Boas </a:t>
            </a:r>
            <a:r>
              <a:rPr sz="1700" b="1" dirty="0" err="1">
                <a:solidFill>
                  <a:srgbClr val="2EE6B6"/>
                </a:solidFill>
                <a:latin typeface="Segoe UI"/>
              </a:rPr>
              <a:t>práticas</a:t>
            </a:r>
            <a:r>
              <a:rPr sz="1700" b="1" dirty="0">
                <a:solidFill>
                  <a:srgbClr val="2EE6B6"/>
                </a:solidFill>
                <a:latin typeface="Segoe UI"/>
              </a:rPr>
              <a:t> de </a:t>
            </a:r>
            <a:r>
              <a:rPr sz="1700" b="1" dirty="0" err="1">
                <a:solidFill>
                  <a:srgbClr val="2EE6B6"/>
                </a:solidFill>
                <a:latin typeface="Segoe UI"/>
              </a:rPr>
              <a:t>projeto</a:t>
            </a:r>
            <a:endParaRPr sz="1700" b="1" dirty="0">
              <a:solidFill>
                <a:srgbClr val="2EE6B6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Factory Pattern para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criar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modelos</a:t>
            </a:r>
            <a:endParaRPr sz="1250" dirty="0">
              <a:solidFill>
                <a:srgbClr val="A8B3D1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Strategy Pattern no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pré-processamento</a:t>
            </a:r>
            <a:endParaRPr sz="1250" dirty="0">
              <a:solidFill>
                <a:srgbClr val="A8B3D1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BaseModel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abstrato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→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extensível</a:t>
            </a:r>
            <a:endParaRPr sz="1250" dirty="0">
              <a:solidFill>
                <a:srgbClr val="A8B3D1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set_seed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() para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reprodutibilidade</a:t>
            </a:r>
            <a:endParaRPr sz="1250" dirty="0">
              <a:solidFill>
                <a:srgbClr val="A8B3D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600000" y="360000"/>
            <a:ext cx="2200000" cy="760000"/>
          </a:xfrm>
          <a:prstGeom prst="roundRect">
            <a:avLst/>
          </a:prstGeom>
          <a:solidFill>
            <a:srgbClr val="24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2EE6B6"/>
                </a:solidFill>
                <a:latin typeface="Segoe UI"/>
              </a:rPr>
              <a:t>A  </a:t>
            </a:r>
            <a:r>
              <a:rPr sz="1500" b="1">
                <a:solidFill>
                  <a:srgbClr val="F2F5FF"/>
                </a:solidFill>
                <a:latin typeface="Segoe UI"/>
              </a:rPr>
              <a:t>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0000" y="650000"/>
            <a:ext cx="8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dirty="0" err="1">
                <a:solidFill>
                  <a:srgbClr val="F2F5FF"/>
                </a:solidFill>
                <a:latin typeface="Segoe UI"/>
              </a:rPr>
              <a:t>MLOps</a:t>
            </a:r>
            <a:r>
              <a:rPr sz="3400" b="1" dirty="0">
                <a:solidFill>
                  <a:srgbClr val="F2F5FF"/>
                </a:solidFill>
                <a:latin typeface="Segoe UI"/>
              </a:rPr>
              <a:t> — </a:t>
            </a:r>
            <a:r>
              <a:rPr sz="3400" b="1" dirty="0" err="1">
                <a:solidFill>
                  <a:srgbClr val="F2F5FF"/>
                </a:solidFill>
                <a:latin typeface="Segoe UI"/>
              </a:rPr>
              <a:t>Rastreabilidade</a:t>
            </a:r>
            <a:r>
              <a:rPr sz="3400" b="1" dirty="0">
                <a:solidFill>
                  <a:srgbClr val="F2F5FF"/>
                </a:solidFill>
                <a:latin typeface="Segoe UI"/>
              </a:rPr>
              <a:t> &amp; </a:t>
            </a:r>
            <a:r>
              <a:rPr sz="3400" b="1" dirty="0" err="1">
                <a:solidFill>
                  <a:srgbClr val="F2F5FF"/>
                </a:solidFill>
                <a:latin typeface="Segoe UI"/>
              </a:rPr>
              <a:t>Reprodutibilidade</a:t>
            </a:r>
            <a:endParaRPr sz="3400" b="1" dirty="0">
              <a:solidFill>
                <a:srgbClr val="F2F5FF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1822952"/>
            <a:ext cx="900000" cy="70000"/>
          </a:xfrm>
          <a:prstGeom prst="rect">
            <a:avLst/>
          </a:prstGeom>
          <a:solidFill>
            <a:srgbClr val="4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0000" y="2050000"/>
            <a:ext cx="5250000" cy="220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 err="1">
                <a:solidFill>
                  <a:srgbClr val="4F9CFF"/>
                </a:solidFill>
                <a:latin typeface="Segoe UI"/>
              </a:rPr>
              <a:t>MLflow</a:t>
            </a:r>
            <a:endParaRPr sz="1700" b="1" dirty="0">
              <a:solidFill>
                <a:srgbClr val="4F9CFF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Registra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cada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experimento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: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•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parâmetros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hiperparâmetros</a:t>
            </a:r>
            <a:endParaRPr sz="1250" dirty="0">
              <a:solidFill>
                <a:srgbClr val="A8B3D1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•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train_loss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val_loss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por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época</a:t>
            </a:r>
            <a:endParaRPr lang="pt-BR" sz="1250" dirty="0">
              <a:solidFill>
                <a:srgbClr val="A8B3D1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lang="pt-BR" sz="1250" dirty="0">
                <a:solidFill>
                  <a:srgbClr val="A8B3D1"/>
                </a:solidFill>
                <a:latin typeface="Segoe UI"/>
              </a:rPr>
              <a:t>Fallback local (mlruns/) se o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servidor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estiver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indisponível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0000" y="2050000"/>
            <a:ext cx="5250000" cy="220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>
                <a:solidFill>
                  <a:srgbClr val="2EE6B6"/>
                </a:solidFill>
                <a:latin typeface="Segoe UI"/>
              </a:rPr>
              <a:t>DVC + Seeds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Versionamento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de dados e pipeline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Execução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automática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por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estágio</a:t>
            </a:r>
            <a:endParaRPr sz="1250" dirty="0">
              <a:solidFill>
                <a:srgbClr val="A8B3D1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Seeds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fixas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(Python/NumPy/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PyTorch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)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→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qualquer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resultado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é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reproduzível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" y="4500000"/>
            <a:ext cx="10800000" cy="95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>
                <a:solidFill>
                  <a:srgbClr val="4F9CFF"/>
                </a:solidFill>
                <a:latin typeface="Segoe UI"/>
              </a:rPr>
              <a:t>Por que </a:t>
            </a:r>
            <a:r>
              <a:rPr sz="1700" b="1" dirty="0" err="1">
                <a:solidFill>
                  <a:srgbClr val="4F9CFF"/>
                </a:solidFill>
                <a:latin typeface="Segoe UI"/>
              </a:rPr>
              <a:t>importa</a:t>
            </a:r>
            <a:endParaRPr sz="1700" b="1" dirty="0">
              <a:solidFill>
                <a:srgbClr val="4F9CFF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Confiança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nos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resultados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,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comparação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justa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de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experimentos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evolução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segura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do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modelo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9600000" y="360000"/>
            <a:ext cx="2200000" cy="760000"/>
          </a:xfrm>
          <a:prstGeom prst="roundRect">
            <a:avLst/>
          </a:prstGeom>
          <a:solidFill>
            <a:srgbClr val="24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2EE6B6"/>
                </a:solidFill>
                <a:latin typeface="Segoe UI"/>
              </a:rPr>
              <a:t>A  </a:t>
            </a:r>
            <a:r>
              <a:rPr sz="1500" b="1">
                <a:solidFill>
                  <a:srgbClr val="F2F5FF"/>
                </a:solidFill>
                <a:latin typeface="Segoe UI"/>
              </a:rPr>
              <a:t>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0000" y="650000"/>
            <a:ext cx="8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2F5FF"/>
                </a:solidFill>
                <a:latin typeface="Segoe UI"/>
              </a:rPr>
              <a:t>API &amp; Camada de Inferência (FastAPI)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480000"/>
            <a:ext cx="900000" cy="70000"/>
          </a:xfrm>
          <a:prstGeom prst="rect">
            <a:avLst/>
          </a:prstGeom>
          <a:solidFill>
            <a:srgbClr val="4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0000" y="1950000"/>
            <a:ext cx="61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F2F5FF"/>
                </a:solidFill>
                <a:latin typeface="Segoe UI"/>
              </a:rPr>
              <a:t>▸  Cache singleton mantém modelo e encoders em memória.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F2F5FF"/>
                </a:solidFill>
                <a:latin typeface="Segoe UI"/>
              </a:rPr>
              <a:t>▸  Predictor pontua todos os candidatos em um único batch.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F2F5FF"/>
                </a:solidFill>
                <a:latin typeface="Segoe UI"/>
              </a:rPr>
              <a:t>▸  RecommendationService orquestra a lógica de negócio.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F2F5FF"/>
                </a:solidFill>
                <a:latin typeface="Segoe UI"/>
              </a:rPr>
              <a:t>▸  Endpoints: /health e /recommend (Pydantic valida a entrada).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00000" y="1950000"/>
            <a:ext cx="4500000" cy="155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 err="1">
                <a:solidFill>
                  <a:srgbClr val="2EE6B6"/>
                </a:solidFill>
                <a:latin typeface="Segoe UI"/>
              </a:rPr>
              <a:t>Resiliência</a:t>
            </a:r>
            <a:r>
              <a:rPr sz="1700" b="1" dirty="0">
                <a:solidFill>
                  <a:srgbClr val="2EE6B6"/>
                </a:solidFill>
                <a:latin typeface="Segoe UI"/>
              </a:rPr>
              <a:t> (fallback)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Sem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modelo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ou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usuário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novo (cold-start)?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→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recomenda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por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popularidade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.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O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sistema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nunca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quebra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0" y="3650000"/>
            <a:ext cx="4500000" cy="155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 err="1">
                <a:solidFill>
                  <a:srgbClr val="4F9CFF"/>
                </a:solidFill>
                <a:latin typeface="Segoe UI"/>
              </a:rPr>
              <a:t>Exemplo</a:t>
            </a:r>
            <a:r>
              <a:rPr sz="1700" b="1" dirty="0">
                <a:solidFill>
                  <a:srgbClr val="4F9CFF"/>
                </a:solidFill>
                <a:latin typeface="Segoe UI"/>
              </a:rPr>
              <a:t> de </a:t>
            </a:r>
            <a:r>
              <a:rPr sz="1700" b="1" dirty="0" err="1">
                <a:solidFill>
                  <a:srgbClr val="4F9CFF"/>
                </a:solidFill>
                <a:latin typeface="Segoe UI"/>
              </a:rPr>
              <a:t>chamada</a:t>
            </a:r>
            <a:endParaRPr sz="1700" b="1" dirty="0">
              <a:solidFill>
                <a:srgbClr val="4F9CFF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POST /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api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/v1/recommend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{ "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user_id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": 1, "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top_k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": 10 }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→ top-K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filmes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com score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600000" y="360000"/>
            <a:ext cx="2200000" cy="760000"/>
          </a:xfrm>
          <a:prstGeom prst="roundRect">
            <a:avLst/>
          </a:prstGeom>
          <a:solidFill>
            <a:srgbClr val="24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2EE6B6"/>
                </a:solidFill>
                <a:latin typeface="Segoe UI"/>
              </a:rPr>
              <a:t>A  </a:t>
            </a:r>
            <a:r>
              <a:rPr sz="1500" b="1">
                <a:solidFill>
                  <a:srgbClr val="F2F5FF"/>
                </a:solidFill>
                <a:latin typeface="Segoe UI"/>
              </a:rPr>
              <a:t>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0000" y="650000"/>
            <a:ext cx="8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2F5FF"/>
                </a:solidFill>
                <a:latin typeface="Segoe UI"/>
              </a:rPr>
              <a:t>Qualidade — 143 testes em 8 categorias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480000"/>
            <a:ext cx="900000" cy="70000"/>
          </a:xfrm>
          <a:prstGeom prst="rect">
            <a:avLst/>
          </a:prstGeom>
          <a:solidFill>
            <a:srgbClr val="4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0000" y="2050000"/>
            <a:ext cx="2560000" cy="900000"/>
          </a:xfrm>
          <a:prstGeom prst="roundRect">
            <a:avLst/>
          </a:prstGeom>
          <a:solidFill>
            <a:srgbClr val="162140"/>
          </a:solidFill>
          <a:ln w="12700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2F5FF"/>
                </a:solidFill>
                <a:latin typeface="Segoe UI"/>
              </a:rPr>
              <a:t>Smoke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0000" y="2050000"/>
            <a:ext cx="2560000" cy="900000"/>
          </a:xfrm>
          <a:prstGeom prst="roundRect">
            <a:avLst/>
          </a:prstGeom>
          <a:solidFill>
            <a:srgbClr val="162140"/>
          </a:solidFill>
          <a:ln w="12700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2F5FF"/>
                </a:solidFill>
                <a:latin typeface="Segoe UI"/>
              </a:rPr>
              <a:t>Funcional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0000" y="2050000"/>
            <a:ext cx="2560000" cy="900000"/>
          </a:xfrm>
          <a:prstGeom prst="roundRect">
            <a:avLst/>
          </a:prstGeom>
          <a:solidFill>
            <a:srgbClr val="162140"/>
          </a:solidFill>
          <a:ln w="12700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2F5FF"/>
                </a:solidFill>
                <a:latin typeface="Segoe UI"/>
              </a:rPr>
              <a:t>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90000" y="2050000"/>
            <a:ext cx="2560000" cy="900000"/>
          </a:xfrm>
          <a:prstGeom prst="roundRect">
            <a:avLst/>
          </a:prstGeom>
          <a:solidFill>
            <a:srgbClr val="162140"/>
          </a:solidFill>
          <a:ln w="12700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2F5FF"/>
                </a:solidFill>
                <a:latin typeface="Segoe UI"/>
              </a:rPr>
              <a:t>Integração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000" y="3150000"/>
            <a:ext cx="2560000" cy="900000"/>
          </a:xfrm>
          <a:prstGeom prst="roundRect">
            <a:avLst/>
          </a:prstGeom>
          <a:solidFill>
            <a:srgbClr val="162140"/>
          </a:solidFill>
          <a:ln w="12700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2F5FF"/>
                </a:solidFill>
                <a:latin typeface="Segoe UI"/>
              </a:rPr>
              <a:t>Segurança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0000" y="3150000"/>
            <a:ext cx="2560000" cy="900000"/>
          </a:xfrm>
          <a:prstGeom prst="roundRect">
            <a:avLst/>
          </a:prstGeom>
          <a:solidFill>
            <a:srgbClr val="162140"/>
          </a:solidFill>
          <a:ln w="12700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2F5FF"/>
                </a:solidFill>
                <a:latin typeface="Segoe UI"/>
              </a:rPr>
              <a:t>Resiliência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0000" y="3150000"/>
            <a:ext cx="2560000" cy="900000"/>
          </a:xfrm>
          <a:prstGeom prst="roundRect">
            <a:avLst/>
          </a:prstGeom>
          <a:solidFill>
            <a:srgbClr val="162140"/>
          </a:solidFill>
          <a:ln w="12700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2F5FF"/>
                </a:solidFill>
                <a:latin typeface="Segoe UI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90000" y="3150000"/>
            <a:ext cx="2560000" cy="900000"/>
          </a:xfrm>
          <a:prstGeom prst="roundRect">
            <a:avLst/>
          </a:prstGeom>
          <a:solidFill>
            <a:srgbClr val="162140"/>
          </a:solidFill>
          <a:ln w="12700">
            <a:solidFill>
              <a:srgbClr val="4F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2F5FF"/>
                </a:solidFill>
                <a:latin typeface="Segoe UI"/>
              </a:rPr>
              <a:t>Performance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0000" y="4550000"/>
            <a:ext cx="10800000" cy="95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pPr algn="ctr"/>
            <a:r>
              <a:rPr sz="1700" b="1" dirty="0" err="1">
                <a:solidFill>
                  <a:srgbClr val="2EE6B6"/>
                </a:solidFill>
                <a:latin typeface="Segoe UI"/>
              </a:rPr>
              <a:t>Destaque</a:t>
            </a:r>
            <a:endParaRPr sz="1700" b="1" dirty="0">
              <a:solidFill>
                <a:srgbClr val="2EE6B6"/>
              </a:solidFill>
              <a:latin typeface="Segoe UI"/>
            </a:endParaRPr>
          </a:p>
          <a:p>
            <a:pPr algn="ctr"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A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suíte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roda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em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~6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segundos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numa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máquina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limpa,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sem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exigir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um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modelo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treinado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(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artefatos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fake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em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fixtures).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600000" y="360000"/>
            <a:ext cx="2200000" cy="760000"/>
          </a:xfrm>
          <a:prstGeom prst="roundRect">
            <a:avLst/>
          </a:prstGeom>
          <a:solidFill>
            <a:srgbClr val="24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2EE6B6"/>
                </a:solidFill>
                <a:latin typeface="Segoe UI"/>
              </a:rPr>
              <a:t>R  </a:t>
            </a:r>
            <a:r>
              <a:rPr sz="1500" b="1">
                <a:solidFill>
                  <a:srgbClr val="F2F5FF"/>
                </a:solidFill>
                <a:latin typeface="Segoe UI"/>
              </a:rPr>
              <a:t>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0000" y="650000"/>
            <a:ext cx="8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2F5FF"/>
                </a:solidFill>
                <a:latin typeface="Segoe UI"/>
              </a:rPr>
              <a:t>O que entregamos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480000"/>
            <a:ext cx="900000" cy="70000"/>
          </a:xfrm>
          <a:prstGeom prst="rect">
            <a:avLst/>
          </a:prstGeom>
          <a:solidFill>
            <a:srgbClr val="4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0000" y="1980000"/>
            <a:ext cx="5250000" cy="165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>
                <a:solidFill>
                  <a:srgbClr val="4F9CFF"/>
                </a:solidFill>
                <a:latin typeface="Segoe UI"/>
              </a:rPr>
              <a:t>Sistema </a:t>
            </a:r>
            <a:r>
              <a:rPr sz="1700" b="1" dirty="0" err="1">
                <a:solidFill>
                  <a:srgbClr val="4F9CFF"/>
                </a:solidFill>
                <a:latin typeface="Segoe UI"/>
              </a:rPr>
              <a:t>funcional</a:t>
            </a:r>
            <a:endParaRPr sz="1700" b="1" dirty="0">
              <a:solidFill>
                <a:srgbClr val="4F9CFF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API REST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devolvendo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recomendações</a:t>
            </a:r>
            <a:endParaRPr sz="1250" dirty="0">
              <a:solidFill>
                <a:srgbClr val="A8B3D1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personalizadas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por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usuário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em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&lt; 2s.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0000" y="1980000"/>
            <a:ext cx="5250000" cy="165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 err="1">
                <a:solidFill>
                  <a:srgbClr val="2EE6B6"/>
                </a:solidFill>
                <a:latin typeface="Segoe UI"/>
              </a:rPr>
              <a:t>Avaliação</a:t>
            </a:r>
            <a:r>
              <a:rPr sz="1700" b="1" dirty="0">
                <a:solidFill>
                  <a:srgbClr val="2EE6B6"/>
                </a:solidFill>
                <a:latin typeface="Segoe UI"/>
              </a:rPr>
              <a:t> (conjunto de teste)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Acurácia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0.70 ·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Precisão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0.69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Recall 0.71 · F1 0.70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" y="3820000"/>
            <a:ext cx="5250000" cy="165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 err="1">
                <a:solidFill>
                  <a:srgbClr val="2EE6B6"/>
                </a:solidFill>
                <a:latin typeface="Segoe UI"/>
              </a:rPr>
              <a:t>Robustez</a:t>
            </a:r>
            <a:endParaRPr sz="1700" b="1" dirty="0">
              <a:solidFill>
                <a:srgbClr val="2EE6B6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Fallback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por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popularidade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+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143 testes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automatizados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0000" y="3820000"/>
            <a:ext cx="5250000" cy="165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 err="1">
                <a:solidFill>
                  <a:srgbClr val="4F9CFF"/>
                </a:solidFill>
                <a:latin typeface="Segoe UI"/>
              </a:rPr>
              <a:t>Reprodutibilidade</a:t>
            </a:r>
            <a:endParaRPr sz="1700" b="1" dirty="0">
              <a:solidFill>
                <a:srgbClr val="4F9CFF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Pipeline DVC +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rastreio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MLflow</a:t>
            </a:r>
            <a:endParaRPr sz="1250" dirty="0">
              <a:solidFill>
                <a:srgbClr val="A8B3D1"/>
              </a:solidFill>
              <a:latin typeface="Segoe UI"/>
            </a:endParaRP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→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qualquer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experimento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reproduzível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4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0000" y="900000"/>
            <a:ext cx="10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F2F5FF"/>
                </a:solidFill>
                <a:latin typeface="Segoe UI"/>
              </a:rPr>
              <a:t>Próximos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620000"/>
            <a:ext cx="900000" cy="70000"/>
          </a:xfrm>
          <a:prstGeom prst="rect">
            <a:avLst/>
          </a:prstGeom>
          <a:solidFill>
            <a:srgbClr val="4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0000" y="2050000"/>
            <a:ext cx="106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900">
                <a:solidFill>
                  <a:srgbClr val="F2F5FF"/>
                </a:solidFill>
                <a:latin typeface="Segoe UI"/>
              </a:rPr>
              <a:t>▸  Integrar o negative sampling ao pipeline de treino.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900">
                <a:solidFill>
                  <a:srgbClr val="F2F5FF"/>
                </a:solidFill>
                <a:latin typeface="Segoe UI"/>
              </a:rPr>
              <a:t>▸  Registrar o modelo no MLflow Model Registry.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900">
                <a:solidFill>
                  <a:srgbClr val="F2F5FF"/>
                </a:solidFill>
                <a:latin typeface="Segoe UI"/>
              </a:rPr>
              <a:t>▸  Implementar esteira de CI/CD.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0000" y="4450000"/>
            <a:ext cx="10600000" cy="1150000"/>
          </a:xfrm>
          <a:prstGeom prst="roundRect">
            <a:avLst/>
          </a:prstGeom>
          <a:solidFill>
            <a:srgbClr val="16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200000" rIns="220000" bIns="160000" rtlCol="0" anchor="t"/>
          <a:lstStyle/>
          <a:p>
            <a:r>
              <a:rPr sz="1700" b="1" dirty="0" err="1">
                <a:solidFill>
                  <a:srgbClr val="2EE6B6"/>
                </a:solidFill>
                <a:latin typeface="Segoe UI"/>
              </a:rPr>
              <a:t>Obrigado</a:t>
            </a:r>
            <a:r>
              <a:rPr sz="1700" b="1" dirty="0">
                <a:solidFill>
                  <a:srgbClr val="2EE6B6"/>
                </a:solidFill>
                <a:latin typeface="Segoe UI"/>
              </a:rPr>
              <a:t>!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>
                <a:solidFill>
                  <a:srgbClr val="A8B3D1"/>
                </a:solidFill>
                <a:latin typeface="Segoe UI"/>
              </a:rPr>
              <a:t>Sistema de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Recomendação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de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Filmes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— Tech Challenge FIAP.</a:t>
            </a:r>
          </a:p>
          <a:p>
            <a:pPr>
              <a:lnSpc>
                <a:spcPct val="108000"/>
              </a:lnSpc>
              <a:spcBef>
                <a:spcPts val="500"/>
              </a:spcBef>
            </a:pPr>
            <a:r>
              <a:rPr sz="1250" dirty="0" err="1">
                <a:solidFill>
                  <a:srgbClr val="A8B3D1"/>
                </a:solidFill>
                <a:latin typeface="Segoe UI"/>
              </a:rPr>
              <a:t>Demonstração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A8B3D1"/>
                </a:solidFill>
                <a:latin typeface="Segoe UI"/>
              </a:rPr>
              <a:t>ao</a:t>
            </a:r>
            <a:r>
              <a:rPr sz="1250" dirty="0">
                <a:solidFill>
                  <a:srgbClr val="A8B3D1"/>
                </a:solidFill>
                <a:latin typeface="Segoe UI"/>
              </a:rPr>
              <a:t> vivo: http://localhost:8000/docs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719</Words>
  <Application>Microsoft Office PowerPoint</Application>
  <PresentationFormat>Widescreen</PresentationFormat>
  <Paragraphs>127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Leandro De Souza Pignataro</cp:lastModifiedBy>
  <cp:revision>2</cp:revision>
  <dcterms:created xsi:type="dcterms:W3CDTF">2013-01-27T09:14:16Z</dcterms:created>
  <dcterms:modified xsi:type="dcterms:W3CDTF">2026-07-02T22:29:51Z</dcterms:modified>
  <cp:category/>
</cp:coreProperties>
</file>