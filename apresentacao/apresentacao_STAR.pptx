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0000" y="408752"/>
            <a:ext cx="10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dirty="0">
                <a:solidFill>
                  <a:srgbClr val="2EE6B6"/>
                </a:solidFill>
                <a:latin typeface="Segoe UI"/>
              </a:rPr>
              <a:t>TECH CHALLENGE  ·  FIAP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000" y="908752"/>
            <a:ext cx="105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2F5FF"/>
                </a:solidFill>
                <a:latin typeface="Segoe UI"/>
              </a:rPr>
              <a:t>Sistema de Recomendação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2F5FF"/>
                </a:solidFill>
                <a:latin typeface="Segoe UI"/>
              </a:rPr>
              <a:t>de Filmes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2808752"/>
            <a:ext cx="10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A8B3D1"/>
                </a:solidFill>
                <a:latin typeface="Segoe UI"/>
              </a:rPr>
              <a:t>Do dado bruto do MovieLens a uma API REST de produção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000" y="3658752"/>
            <a:ext cx="10600000" cy="10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Stack principal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Python · PyTorch · FastAPI · MLflow · DVC · uv · Docker · pytest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908752"/>
            <a:ext cx="10000000" cy="17326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 err="1">
                <a:solidFill>
                  <a:srgbClr val="4F9CFF"/>
                </a:solidFill>
                <a:latin typeface="Segoe UI"/>
              </a:rPr>
              <a:t>Apresentação</a:t>
            </a:r>
            <a:r>
              <a:rPr sz="1400" b="1" dirty="0">
                <a:solidFill>
                  <a:srgbClr val="4F9CFF"/>
                </a:solidFill>
                <a:latin typeface="Segoe UI"/>
              </a:rPr>
              <a:t> no </a:t>
            </a:r>
            <a:r>
              <a:rPr sz="1400" b="1" dirty="0" err="1">
                <a:solidFill>
                  <a:srgbClr val="4F9CFF"/>
                </a:solidFill>
                <a:latin typeface="Segoe UI"/>
              </a:rPr>
              <a:t>modelo</a:t>
            </a:r>
            <a:r>
              <a:rPr sz="1400" b="1" dirty="0">
                <a:solidFill>
                  <a:srgbClr val="4F9CFF"/>
                </a:solidFill>
                <a:latin typeface="Segoe UI"/>
              </a:rPr>
              <a:t> STAR — </a:t>
            </a:r>
            <a:r>
              <a:rPr sz="1400" b="1" dirty="0" err="1">
                <a:solidFill>
                  <a:srgbClr val="4F9CFF"/>
                </a:solidFill>
                <a:latin typeface="Segoe UI"/>
              </a:rPr>
              <a:t>Situação</a:t>
            </a:r>
            <a:r>
              <a:rPr sz="1400" b="1" dirty="0">
                <a:solidFill>
                  <a:srgbClr val="4F9CFF"/>
                </a:solidFill>
                <a:latin typeface="Segoe UI"/>
              </a:rPr>
              <a:t> · </a:t>
            </a:r>
            <a:r>
              <a:rPr sz="1400" b="1" dirty="0" err="1">
                <a:solidFill>
                  <a:srgbClr val="4F9CFF"/>
                </a:solidFill>
                <a:latin typeface="Segoe UI"/>
              </a:rPr>
              <a:t>Tarefa</a:t>
            </a:r>
            <a:r>
              <a:rPr sz="1400" b="1" dirty="0">
                <a:solidFill>
                  <a:srgbClr val="4F9CFF"/>
                </a:solidFill>
                <a:latin typeface="Segoe UI"/>
              </a:rPr>
              <a:t> · </a:t>
            </a:r>
            <a:r>
              <a:rPr sz="1400" b="1" dirty="0" err="1">
                <a:solidFill>
                  <a:srgbClr val="4F9CFF"/>
                </a:solidFill>
                <a:latin typeface="Segoe UI"/>
              </a:rPr>
              <a:t>Ação</a:t>
            </a:r>
            <a:r>
              <a:rPr sz="1400" b="1" dirty="0">
                <a:solidFill>
                  <a:srgbClr val="4F9CFF"/>
                </a:solidFill>
                <a:latin typeface="Segoe UI"/>
              </a:rPr>
              <a:t> · </a:t>
            </a:r>
            <a:r>
              <a:rPr sz="1400" b="1" dirty="0" err="1">
                <a:solidFill>
                  <a:srgbClr val="4F9CFF"/>
                </a:solidFill>
                <a:latin typeface="Segoe UI"/>
              </a:rPr>
              <a:t>Resultado</a:t>
            </a:r>
            <a:endParaRPr lang="pt-BR" sz="1400" b="1" dirty="0">
              <a:solidFill>
                <a:srgbClr val="4F9CFF"/>
              </a:solidFill>
              <a:latin typeface="Segoe UI"/>
            </a:endParaRPr>
          </a:p>
          <a:p>
            <a:pPr>
              <a:lnSpc>
                <a:spcPct val="110000"/>
              </a:lnSpc>
              <a:defRPr sz="1800">
                <a:solidFill>
                  <a:srgbClr val="B4C8E6"/>
                </a:solidFill>
              </a:defRPr>
            </a:pPr>
            <a:endParaRPr lang="pt-BR" sz="1400" b="1" dirty="0">
              <a:solidFill>
                <a:srgbClr val="4F9CFF"/>
              </a:solidFill>
              <a:latin typeface="Segoe UI"/>
            </a:endParaRPr>
          </a:p>
          <a:p>
            <a:pPr>
              <a:lnSpc>
                <a:spcPct val="110000"/>
              </a:lnSpc>
              <a:defRPr sz="1800">
                <a:solidFill>
                  <a:srgbClr val="B4C8E6"/>
                </a:solidFill>
              </a:defRPr>
            </a:pPr>
            <a:r>
              <a:rPr lang="pt-BR" sz="1400" b="1" dirty="0">
                <a:solidFill>
                  <a:srgbClr val="4F9CFF"/>
                </a:solidFill>
                <a:latin typeface="Segoe UI"/>
              </a:rPr>
              <a:t>Equipe:</a:t>
            </a:r>
          </a:p>
          <a:p>
            <a:pPr>
              <a:lnSpc>
                <a:spcPct val="110000"/>
              </a:lnSpc>
              <a:defRPr sz="1800">
                <a:solidFill>
                  <a:srgbClr val="B4C8E6"/>
                </a:solidFill>
              </a:defRPr>
            </a:pPr>
            <a:r>
              <a:rPr lang="pt-BR" sz="1400" b="1" dirty="0">
                <a:solidFill>
                  <a:srgbClr val="4F9CFF"/>
                </a:solidFill>
                <a:latin typeface="Segoe UI"/>
              </a:rPr>
              <a:t>Alexis Ferreira Duarte – RM371356</a:t>
            </a:r>
          </a:p>
          <a:p>
            <a:pPr>
              <a:lnSpc>
                <a:spcPct val="110000"/>
              </a:lnSpc>
              <a:defRPr sz="1800">
                <a:solidFill>
                  <a:srgbClr val="B4C8E6"/>
                </a:solidFill>
              </a:defRPr>
            </a:pPr>
            <a:r>
              <a:rPr lang="pt-BR" sz="1400" b="1" dirty="0">
                <a:solidFill>
                  <a:srgbClr val="4F9CFF"/>
                </a:solidFill>
                <a:latin typeface="Segoe UI"/>
              </a:rPr>
              <a:t>George Ricardo dos Santos – RM374213</a:t>
            </a:r>
          </a:p>
          <a:p>
            <a:pPr>
              <a:lnSpc>
                <a:spcPct val="110000"/>
              </a:lnSpc>
              <a:defRPr sz="1800">
                <a:solidFill>
                  <a:srgbClr val="B4C8E6"/>
                </a:solidFill>
              </a:defRPr>
            </a:pPr>
            <a:r>
              <a:rPr lang="pt-BR" sz="1400" b="1" dirty="0">
                <a:solidFill>
                  <a:srgbClr val="4F9CFF"/>
                </a:solidFill>
                <a:latin typeface="Segoe UI"/>
              </a:rPr>
              <a:t>Leandro de Souza Pignataro – RM373704</a:t>
            </a:r>
          </a:p>
          <a:p>
            <a:pPr>
              <a:lnSpc>
                <a:spcPct val="110000"/>
              </a:lnSpc>
              <a:defRPr sz="1800">
                <a:solidFill>
                  <a:srgbClr val="B4C8E6"/>
                </a:solidFill>
              </a:defRPr>
            </a:pPr>
            <a:r>
              <a:rPr lang="pt-BR" sz="1400" b="1" dirty="0">
                <a:solidFill>
                  <a:srgbClr val="4F9CFF"/>
                </a:solidFill>
                <a:latin typeface="Segoe UI"/>
              </a:rPr>
              <a:t>Nicolas de Araújo Gomes – RM370990</a:t>
            </a:r>
            <a:endParaRPr sz="1400" b="1" dirty="0">
              <a:solidFill>
                <a:srgbClr val="4F9C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S  </a:t>
            </a:r>
            <a:r>
              <a:rPr sz="1500" b="1">
                <a:solidFill>
                  <a:srgbClr val="F2F5FF"/>
                </a:solidFill>
                <a:latin typeface="Segoe UI"/>
              </a:rPr>
              <a:t>SITUAÇÃO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O problema a resolver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108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>
                <a:solidFill>
                  <a:srgbClr val="F2F5FF"/>
                </a:solidFill>
                <a:latin typeface="Segoe UI"/>
              </a:rPr>
              <a:t>▸  Catálogos de streaming são enormes — o usuário se perde no volume de opções.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>
                <a:solidFill>
                  <a:srgbClr val="A8B3D1"/>
                </a:solidFill>
                <a:latin typeface="Segoe UI"/>
              </a:rPr>
              <a:t>▸  Sem boa recomendação, o engajamento cai e o conteúdo relevante fica invisível.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>
                <a:solidFill>
                  <a:srgbClr val="F2F5FF"/>
                </a:solidFill>
                <a:latin typeface="Segoe UI"/>
              </a:rPr>
              <a:t>▸  Dataset MovieLens: milhões de avaliações de filmes feitas por usuários reais.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>
                <a:solidFill>
                  <a:srgbClr val="A8B3D1"/>
                </a:solidFill>
                <a:latin typeface="Segoe UI"/>
              </a:rPr>
              <a:t>▸  Desafio central: prever quais filmes cada usuário realmente vai gostar — rápido e confiável.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4750000"/>
            <a:ext cx="10800000" cy="9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Contexto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Projeto acadêmico do Tech Challenge FIAP — recomendação de filmes ponta a ponta com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T  </a:t>
            </a:r>
            <a:r>
              <a:rPr sz="1500" b="1">
                <a:solidFill>
                  <a:srgbClr val="F2F5FF"/>
                </a:solidFill>
                <a:latin typeface="Segoe UI"/>
              </a:rPr>
              <a:t>TAREFA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O que precisávamos construir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0000" y="1950000"/>
            <a:ext cx="3450000" cy="19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1 · Modelar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Classificação binária: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prever se o usuário daria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nota ≥ 4 (gostou / não gostou).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000" y="1950000"/>
            <a:ext cx="3450000" cy="19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2 · Pipeline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Fluxo reprodutível de dados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e treino, versionado 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rastreável de ponta a ponta.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0000" y="1950000"/>
            <a:ext cx="3450000" cy="19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3 · Servir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API REST que entrega as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recomendações de forma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rápida e resiliente.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4150000"/>
            <a:ext cx="10790000" cy="13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Entrega principal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Dado um user_id → retornar o TOP-K de filmes recomendados,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com título, gênero e score de probabilidade de o usuário gostar.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A  </a:t>
            </a:r>
            <a:r>
              <a:rPr sz="1500" b="1">
                <a:solidFill>
                  <a:srgbClr val="F2F5FF"/>
                </a:solidFill>
                <a:latin typeface="Segoe UI"/>
              </a:rPr>
              <a:t>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Arquitetura &amp; Pipeline (DVC)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0000" y="235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Preprocess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11400" y="280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76400" y="235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Feature Eng.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07800" y="280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72800" y="235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Split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04200" y="280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69200" y="235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Train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00600" y="280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65600" y="235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3900000"/>
            <a:ext cx="108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>
                <a:solidFill>
                  <a:srgbClr val="F2F5FF"/>
                </a:solidFill>
                <a:latin typeface="Segoe UI"/>
              </a:rPr>
              <a:t>▸  Preprocess: binariza as notas (≥ 4 → gostou) — padrão Strategy.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>
                <a:solidFill>
                  <a:srgbClr val="F2F5FF"/>
                </a:solidFill>
                <a:latin typeface="Segoe UI"/>
              </a:rPr>
              <a:t>▸  Feature Engineering: LabelEncoders para usuários e filmes.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>
                <a:solidFill>
                  <a:srgbClr val="F2F5FF"/>
                </a:solidFill>
                <a:latin typeface="Segoe UI"/>
              </a:rPr>
              <a:t>▸  Split estratificado 70/15/15 — treino / validação / teste, sem vazamento.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>
                <a:solidFill>
                  <a:srgbClr val="F2F5FF"/>
                </a:solidFill>
                <a:latin typeface="Segoe UI"/>
              </a:rPr>
              <a:t>▸  DVC orquestra e versiona todos os estágios, garantindo reprodutibilidade.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A  </a:t>
            </a:r>
            <a:r>
              <a:rPr sz="1500" b="1">
                <a:solidFill>
                  <a:srgbClr val="F2F5FF"/>
                </a:solidFill>
                <a:latin typeface="Segoe UI"/>
              </a:rPr>
              <a:t>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O Modelo — MLP com Embeddings (PyTorch)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0000" y="220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Embedding
Usuário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11400" y="265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76400" y="220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Embedding
Filme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07800" y="265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72800" y="220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Concat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04200" y="265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69200" y="220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Dense + ReLU
+ Dropout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00600" y="2655000"/>
            <a:ext cx="180000" cy="140000"/>
          </a:xfrm>
          <a:prstGeom prst="rightArrow">
            <a:avLst/>
          </a:prstGeom>
          <a:solidFill>
            <a:srgbClr val="2EE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65600" y="2200000"/>
            <a:ext cx="2046400" cy="1050000"/>
          </a:xfrm>
          <a:prstGeom prst="roundRect">
            <a:avLst/>
          </a:prstGeom>
          <a:solidFill>
            <a:srgbClr val="162140"/>
          </a:solidFill>
          <a:ln w="15875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2F5FF"/>
                </a:solidFill>
                <a:latin typeface="Segoe UI"/>
              </a:rPr>
              <a:t>Sigmoid
→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3650000"/>
            <a:ext cx="5250000" cy="19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Treinamento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Loss: BCEWithLogitsLoss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Otimizador: Adam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Early stopping na perda de validação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Salva sempre o melhor modelo (.pth)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0000" y="3650000"/>
            <a:ext cx="5250000" cy="19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Boas práticas de projeto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Factory Pattern para criar modelos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Strategy Pattern no pré-processamento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BaseModel abstrato → extensível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set_seed() para reprodutibilidade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A  </a:t>
            </a:r>
            <a:r>
              <a:rPr sz="1500" b="1">
                <a:solidFill>
                  <a:srgbClr val="F2F5FF"/>
                </a:solidFill>
                <a:latin typeface="Segoe UI"/>
              </a:rPr>
              <a:t>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MLOps — Rastreabilidade &amp; Reprodutibilidade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0000" y="2050000"/>
            <a:ext cx="5250000" cy="22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MLflow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Registra cada experimento: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• parâmetros e hiperparâmetros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• train_loss e val_loss por época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Fallback local (mlruns/) se 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servidor estiver indisponível.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0000" y="2050000"/>
            <a:ext cx="5250000" cy="220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DVC + Seeds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Versionamento de dados e pipeline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Execução automática por estágio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Seeds fixas (Python/NumPy/PyTorch)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→ qualquer resultado é reproduzível.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4500000"/>
            <a:ext cx="10800000" cy="9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Por que importa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Confiança nos resultados, comparação justa de experimentos e evolução segura do modelo.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A  </a:t>
            </a:r>
            <a:r>
              <a:rPr sz="1500" b="1">
                <a:solidFill>
                  <a:srgbClr val="F2F5FF"/>
                </a:solidFill>
                <a:latin typeface="Segoe UI"/>
              </a:rPr>
              <a:t>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API &amp; Camada de Inferência (FastAPI)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000" y="1950000"/>
            <a:ext cx="61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F2F5FF"/>
                </a:solidFill>
                <a:latin typeface="Segoe UI"/>
              </a:rPr>
              <a:t>▸  Cache singleton mantém modelo e encoders em memória.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F2F5FF"/>
                </a:solidFill>
                <a:latin typeface="Segoe UI"/>
              </a:rPr>
              <a:t>▸  Predictor pontua todos os candidatos em um único batch.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F2F5FF"/>
                </a:solidFill>
                <a:latin typeface="Segoe UI"/>
              </a:rPr>
              <a:t>▸  RecommendationService orquestra a lógica de negócio.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F2F5FF"/>
                </a:solidFill>
                <a:latin typeface="Segoe UI"/>
              </a:rPr>
              <a:t>▸  Endpoints: /health e /recommend (Pydantic valida a entrada).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0" y="1950000"/>
            <a:ext cx="4500000" cy="15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Resiliência (fallback)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Sem modelo ou usuário novo (cold-start)?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→ recomenda por popularidade.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O sistema nunca quebra.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0" y="3650000"/>
            <a:ext cx="4500000" cy="15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Exemplo de chamada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POST /api/v1/recommend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{ "user_id": 1, "top_k": 10 }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→ top-K filmes com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A  </a:t>
            </a:r>
            <a:r>
              <a:rPr sz="1500" b="1">
                <a:solidFill>
                  <a:srgbClr val="F2F5FF"/>
                </a:solidFill>
                <a:latin typeface="Segoe UI"/>
              </a:rPr>
              <a:t>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Qualidade — 143 testes em 8 categorias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0000" y="20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Smoke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0000" y="20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Funcional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0000" y="20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0000" y="20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Integração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31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Segurança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0000" y="31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Resiliência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0000" y="31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90000" y="3150000"/>
            <a:ext cx="2560000" cy="900000"/>
          </a:xfrm>
          <a:prstGeom prst="roundRect">
            <a:avLst/>
          </a:prstGeom>
          <a:solidFill>
            <a:srgbClr val="162140"/>
          </a:solidFill>
          <a:ln w="12700">
            <a:solidFill>
              <a:srgbClr val="4F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5FF"/>
                </a:solidFill>
                <a:latin typeface="Segoe UI"/>
              </a:rPr>
              <a:t>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4550000"/>
            <a:ext cx="10800000" cy="9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Destaque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A suíte roda em ~6 segundos numa máquina limpa, sem exigir um modelo treinado (artefatos fake em fixtures).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0000" y="360000"/>
            <a:ext cx="2200000" cy="760000"/>
          </a:xfrm>
          <a:prstGeom prst="roundRect">
            <a:avLst/>
          </a:prstGeom>
          <a:solidFill>
            <a:srgbClr val="2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2EE6B6"/>
                </a:solidFill>
                <a:latin typeface="Segoe UI"/>
              </a:rPr>
              <a:t>R  </a:t>
            </a:r>
            <a:r>
              <a:rPr sz="1500" b="1">
                <a:solidFill>
                  <a:srgbClr val="F2F5FF"/>
                </a:solidFill>
                <a:latin typeface="Segoe UI"/>
              </a:rPr>
              <a:t>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00" y="650000"/>
            <a:ext cx="8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2F5FF"/>
                </a:solidFill>
                <a:latin typeface="Segoe UI"/>
              </a:rPr>
              <a:t>O que entregamos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48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0000" y="1980000"/>
            <a:ext cx="5250000" cy="16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Sistema funcional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API REST devolvendo recomendações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personalizadas por usuário em &lt; 2s.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0000" y="1980000"/>
            <a:ext cx="5250000" cy="16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Avaliação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Métricas de classificação: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Acurácia · Precisão · Recall · F1.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3820000"/>
            <a:ext cx="5250000" cy="16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Robustez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Fallback por popularidade +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143 testes automatizados.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0000" y="3820000"/>
            <a:ext cx="5250000" cy="16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4F9CFF"/>
                </a:solidFill>
                <a:latin typeface="Segoe UI"/>
              </a:rPr>
              <a:t>Reprodutibilidade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Pipeline DVC + rastreio MLflow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→ qualquer experimento reproduzível.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0000" y="90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2F5FF"/>
                </a:solidFill>
                <a:latin typeface="Segoe UI"/>
              </a:rPr>
              <a:t>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620000"/>
            <a:ext cx="900000" cy="70000"/>
          </a:xfrm>
          <a:prstGeom prst="rect">
            <a:avLst/>
          </a:prstGeom>
          <a:solidFill>
            <a:srgbClr val="4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0000" y="2050000"/>
            <a:ext cx="10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>
                <a:solidFill>
                  <a:srgbClr val="F2F5FF"/>
                </a:solidFill>
                <a:latin typeface="Segoe UI"/>
              </a:rPr>
              <a:t>▸  Integrar o negative sampling ao pipeline de treino.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>
                <a:solidFill>
                  <a:srgbClr val="F2F5FF"/>
                </a:solidFill>
                <a:latin typeface="Segoe UI"/>
              </a:rPr>
              <a:t>▸  Registrar o modelo no MLflow Model Registry.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>
                <a:solidFill>
                  <a:srgbClr val="F2F5FF"/>
                </a:solidFill>
                <a:latin typeface="Segoe UI"/>
              </a:rPr>
              <a:t>▸  Implementar esteira de CI/CD.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000" y="4450000"/>
            <a:ext cx="10600000" cy="1150000"/>
          </a:xfrm>
          <a:prstGeom prst="roundRect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00000" rIns="220000" bIns="160000" rtlCol="0" anchor="t"/>
          <a:lstStyle/>
          <a:p>
            <a:pPr algn="ctr"/>
            <a:r>
              <a:rPr sz="1700" b="1">
                <a:solidFill>
                  <a:srgbClr val="2EE6B6"/>
                </a:solidFill>
                <a:latin typeface="Segoe UI"/>
              </a:rPr>
              <a:t>Obrigado!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Sistema de Recomendação de Filmes — Tech Challenge FIAP.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250">
                <a:solidFill>
                  <a:srgbClr val="A8B3D1"/>
                </a:solidFill>
                <a:latin typeface="Segoe UI"/>
              </a:rPr>
              <a:t>Demonstração ao vivo: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715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Leandro De Souza Pignataro</cp:lastModifiedBy>
  <cp:revision>2</cp:revision>
  <dcterms:created xsi:type="dcterms:W3CDTF">2013-01-27T09:14:16Z</dcterms:created>
  <dcterms:modified xsi:type="dcterms:W3CDTF">2026-07-02T20:24:49Z</dcterms:modified>
  <cp:category/>
</cp:coreProperties>
</file>